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79" r:id="rId3"/>
    <p:sldId id="280" r:id="rId4"/>
    <p:sldId id="283" r:id="rId5"/>
    <p:sldId id="275" r:id="rId6"/>
    <p:sldId id="281" r:id="rId7"/>
    <p:sldId id="284" r:id="rId8"/>
    <p:sldId id="282" r:id="rId9"/>
    <p:sldId id="285" r:id="rId10"/>
    <p:sldId id="26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94B"/>
    <a:srgbClr val="1172ED"/>
    <a:srgbClr val="122144"/>
    <a:srgbClr val="E7F3FF"/>
    <a:srgbClr val="142441"/>
    <a:srgbClr val="0C1C45"/>
    <a:srgbClr val="FFD74C"/>
    <a:srgbClr val="8F00FF"/>
    <a:srgbClr val="ADDAE3"/>
    <a:srgbClr val="FBB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86"/>
    <p:restoredTop sz="94682"/>
  </p:normalViewPr>
  <p:slideViewPr>
    <p:cSldViewPr>
      <p:cViewPr>
        <p:scale>
          <a:sx n="126" d="100"/>
          <a:sy n="126" d="100"/>
        </p:scale>
        <p:origin x="872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59F71-A043-3D48-8C03-CC14E08952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F226A-3763-5647-AA86-ED10D625E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2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F226A-3763-5647-AA86-ED10D625EF9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140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0" y="3906152"/>
            <a:ext cx="5731538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№СтС-608136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Создание облачной платформы бесконтактного управления доступом на основе мобильного телефона</a:t>
            </a: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Клименков Максим Романович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—</a:t>
            </a:r>
          </a:p>
          <a:p>
            <a:endParaRPr lang="ru-RU" noProof="0" dirty="0"/>
          </a:p>
        </p:txBody>
      </p:sp>
      <p:sp>
        <p:nvSpPr>
          <p:cNvPr id="171" name="Квадрат"/>
          <p:cNvSpPr/>
          <p:nvPr/>
        </p:nvSpPr>
        <p:spPr>
          <a:xfrm>
            <a:off x="5731539" y="5927334"/>
            <a:ext cx="3412461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 lang="ru-RU" noProof="0" dirty="0"/>
          </a:p>
        </p:txBody>
      </p:sp>
      <p:sp>
        <p:nvSpPr>
          <p:cNvPr id="172" name="Прямоугольник"/>
          <p:cNvSpPr/>
          <p:nvPr/>
        </p:nvSpPr>
        <p:spPr>
          <a:xfrm>
            <a:off x="5731539" y="3910830"/>
            <a:ext cx="789471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 lang="ru-RU" noProof="0" dirty="0"/>
          </a:p>
        </p:txBody>
      </p:sp>
      <p:sp>
        <p:nvSpPr>
          <p:cNvPr id="173" name="Прямоугольник"/>
          <p:cNvSpPr/>
          <p:nvPr/>
        </p:nvSpPr>
        <p:spPr>
          <a:xfrm>
            <a:off x="6521011" y="3906151"/>
            <a:ext cx="2622989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 lang="ru-RU" noProof="0" dirty="0"/>
          </a:p>
        </p:txBody>
      </p:sp>
      <p:sp>
        <p:nvSpPr>
          <p:cNvPr id="174" name="Квадрат"/>
          <p:cNvSpPr/>
          <p:nvPr/>
        </p:nvSpPr>
        <p:spPr>
          <a:xfrm>
            <a:off x="6521011" y="0"/>
            <a:ext cx="2622989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 lang="ru-RU" noProof="0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863CA9C-F1C4-22E3-A14A-BBCED3104C92}"/>
              </a:ext>
            </a:extLst>
          </p:cNvPr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noProof="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60235"/>
            <a:ext cx="1857486" cy="1724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8" y="332656"/>
            <a:ext cx="2001725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Двойные круглые скобки 10"/>
          <p:cNvSpPr/>
          <p:nvPr/>
        </p:nvSpPr>
        <p:spPr>
          <a:xfrm>
            <a:off x="827584" y="1615120"/>
            <a:ext cx="5507956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1225590" y="1759135"/>
            <a:ext cx="4203124" cy="1725141"/>
          </a:xfrm>
        </p:spPr>
        <p:txBody>
          <a:bodyPr>
            <a:noAutofit/>
          </a:bodyPr>
          <a:lstStyle/>
          <a:p>
            <a:pPr algn="l"/>
            <a:r>
              <a:rPr lang="ru-RU" b="1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noProof="0" dirty="0">
                <a:solidFill>
                  <a:srgbClr val="FF0000"/>
                </a:solidFill>
                <a:latin typeface="Gilroy-ExtraBold"/>
              </a:rPr>
              <a:t> </a:t>
            </a:r>
            <a:br>
              <a:rPr lang="ru-RU" b="1" noProof="0" dirty="0">
                <a:solidFill>
                  <a:srgbClr val="FF0000"/>
                </a:solidFill>
                <a:latin typeface="Gilroy-ExtraBold"/>
              </a:rPr>
            </a:br>
            <a:r>
              <a:rPr lang="ru-RU" b="1" noProof="0" dirty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067944" y="3076211"/>
            <a:ext cx="1706284" cy="525971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VII очередь</a:t>
            </a:r>
          </a:p>
        </p:txBody>
      </p:sp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noProof="0" dirty="0">
                <a:solidFill>
                  <a:srgbClr val="1F2937"/>
                </a:solidFill>
                <a:latin typeface="Manrope" pitchFamily="2" charset="0"/>
              </a:rPr>
              <a:t>Проблема: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latin typeface="Manrope" pitchFamily="2" charset="0"/>
              </a:rPr>
              <a:t>Установка классической системы контроля и управления доступом (СКУД) экономически не обоснованна для небольших предприятий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latin typeface="Manrope" pitchFamily="2" charset="0"/>
              </a:rPr>
              <a:t>В учебных заведениях администрирование карт создаёт высокую нагрузку на работников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latin typeface="Manrope" pitchFamily="2" charset="0"/>
              </a:rPr>
              <a:t>Физические идентификаторы не применимы для студий без администратора и отелей с бесконтактным заселением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latin typeface="Manrope" pitchFamily="2" charset="0"/>
              </a:rPr>
              <a:t>Установка СКУД на склад индивидуального хранения несет большие капитальные затраты, обоснованные высокой концентрацией точек прохода</a:t>
            </a:r>
          </a:p>
          <a:p>
            <a:pPr marL="0" indent="0">
              <a:buNone/>
            </a:pPr>
            <a:endParaRPr lang="ru-RU" sz="1400" noProof="0" dirty="0"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solidFill>
                  <a:srgbClr val="1F2937"/>
                </a:solidFill>
                <a:latin typeface="Manrope" pitchFamily="2" charset="0"/>
              </a:rPr>
              <a:t>Продукт:</a:t>
            </a:r>
          </a:p>
          <a:p>
            <a:pPr marL="228600" indent="-228600"/>
            <a:r>
              <a:rPr lang="ru-RU" sz="1400" noProof="0" dirty="0">
                <a:latin typeface="Manrope" pitchFamily="2" charset="0"/>
              </a:rPr>
              <a:t>Облачная платформа бесконтактного управления доступом на основе мобильного телефона</a:t>
            </a:r>
          </a:p>
          <a:p>
            <a:pPr marL="0" indent="0">
              <a:buNone/>
            </a:pPr>
            <a:endParaRPr lang="ru-RU" sz="1400" noProof="0" dirty="0"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solidFill>
                  <a:srgbClr val="1F2937"/>
                </a:solidFill>
                <a:latin typeface="Manrope" pitchFamily="2" charset="0"/>
              </a:rPr>
              <a:t>Области применения: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latin typeface="Manrope" pitchFamily="2" charset="0"/>
              </a:rPr>
              <a:t>ВУЗы, БЦ класса </a:t>
            </a:r>
            <a:r>
              <a:rPr lang="ru-RU" sz="1400" noProof="0" dirty="0" err="1">
                <a:latin typeface="Manrope" pitchFamily="2" charset="0"/>
              </a:rPr>
              <a:t>B</a:t>
            </a:r>
            <a:r>
              <a:rPr lang="ru-RU" sz="1400" noProof="0" dirty="0">
                <a:latin typeface="Manrope" pitchFamily="2" charset="0"/>
              </a:rPr>
              <a:t>/</a:t>
            </a:r>
            <a:r>
              <a:rPr lang="ru-RU" sz="1400" noProof="0" dirty="0" err="1">
                <a:latin typeface="Manrope" pitchFamily="2" charset="0"/>
              </a:rPr>
              <a:t>B</a:t>
            </a:r>
            <a:r>
              <a:rPr lang="ru-RU" sz="1400" noProof="0" dirty="0">
                <a:latin typeface="Manrope" pitchFamily="2" charset="0"/>
              </a:rPr>
              <a:t>+, </a:t>
            </a:r>
            <a:r>
              <a:rPr lang="ru-RU" sz="1400" noProof="0" dirty="0" err="1">
                <a:latin typeface="Manrope" pitchFamily="2" charset="0"/>
              </a:rPr>
              <a:t>self-service</a:t>
            </a:r>
            <a:r>
              <a:rPr lang="ru-RU" sz="1400" noProof="0" dirty="0">
                <a:latin typeface="Manrope" pitchFamily="2" charset="0"/>
              </a:rPr>
              <a:t> студии, склады индивидуального хранения, апарт-отели</a:t>
            </a:r>
          </a:p>
        </p:txBody>
      </p:sp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noProof="0" dirty="0">
                <a:solidFill>
                  <a:srgbClr val="122144"/>
                </a:solidFill>
                <a:latin typeface="Manrope" pitchFamily="2" charset="0"/>
              </a:rPr>
              <a:t>Как это работает: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Телефон подключается к контроллеру по BLE, контроллер управляет замком через реле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Опционально — BLE-считыватели по требованию заказчика (Цифровой ID, др.)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Облако синхронизирует правила и события через MQTT (mTLS), </a:t>
            </a:r>
            <a:b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</a:b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между устройствами — FLRC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ru-RU" sz="1400" noProof="0" dirty="0">
              <a:solidFill>
                <a:srgbClr val="122144"/>
              </a:solidFill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solidFill>
                  <a:srgbClr val="122144"/>
                </a:solidFill>
                <a:latin typeface="Manrope" pitchFamily="2" charset="0"/>
              </a:rPr>
              <a:t>Инновационное решение: </a:t>
            </a: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Беспроводная топология не требует подключения каждого контроллера по Ethernet. Достаточно иметь источник питания поблизости.</a:t>
            </a:r>
          </a:p>
          <a:p>
            <a:pPr marL="0" indent="0">
              <a:buNone/>
            </a:pPr>
            <a:endParaRPr lang="ru-RU" sz="1400" noProof="0" dirty="0">
              <a:solidFill>
                <a:srgbClr val="122144"/>
              </a:solidFill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solidFill>
                  <a:srgbClr val="122144"/>
                </a:solidFill>
                <a:latin typeface="Manrope" pitchFamily="2" charset="0"/>
              </a:rPr>
              <a:t>Преимущества технического решения: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Обеспечение 2FA без дополнительного оборудования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Беспроводная топология — нет кабеля от сервера к каждой двери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Защита данных в покое и в движении, работа без сети</a:t>
            </a:r>
          </a:p>
          <a:p>
            <a:pPr marL="0" indent="0">
              <a:buNone/>
            </a:pPr>
            <a:endParaRPr lang="ru-RU" sz="1400" noProof="0" dirty="0">
              <a:solidFill>
                <a:srgbClr val="122144"/>
              </a:solidFill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solidFill>
                  <a:srgbClr val="122144"/>
                </a:solidFill>
                <a:latin typeface="Manrope" pitchFamily="2" charset="0"/>
              </a:rPr>
              <a:t>Задел и ИС: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Пилотная установка на турникетах </a:t>
            </a:r>
            <a:r>
              <a:rPr lang="ru-RU" sz="1400" noProof="0" dirty="0" err="1">
                <a:solidFill>
                  <a:srgbClr val="122144"/>
                </a:solidFill>
                <a:latin typeface="Manrope" pitchFamily="2" charset="0"/>
              </a:rPr>
              <a:t>ДонНТУ</a:t>
            </a:r>
            <a:endParaRPr lang="ru-RU" sz="1400" noProof="0" dirty="0">
              <a:solidFill>
                <a:srgbClr val="122144"/>
              </a:solidFill>
              <a:latin typeface="Manrope" pitchFamily="2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Регистрация ПО в Роспатенте, прошивка и принципиальная схема — коммерческая тайна</a:t>
            </a:r>
          </a:p>
        </p:txBody>
      </p:sp>
    </p:spTree>
    <p:extLst>
      <p:ext uri="{BB962C8B-B14F-4D97-AF65-F5344CB8AC3E}">
        <p14:creationId xmlns:p14="http://schemas.microsoft.com/office/powerpoint/2010/main" val="331657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4578-7FE9-D6F3-F265-F75FEAAF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E4823-8440-23EA-3C1A-EE3396B8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38F703D-2F90-ABCA-4D99-C1A020496546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287CD95-3110-0EEE-466D-FEFC819DEB05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E4B83DD-865D-CD75-A337-7C8E91128284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BED0DE1-626B-58BF-84CB-105648712975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1DFC6B7-362B-F6A1-8952-109A2BB27CA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04F7539-9D41-FC9D-786D-FD320682DC15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>
            <a:extLst>
              <a:ext uri="{FF2B5EF4-FFF2-40B4-BE49-F238E27FC236}">
                <a16:creationId xmlns:a16="http://schemas.microsoft.com/office/drawing/2014/main" id="{14CA26E5-2876-F44F-A2A6-12AB5883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07A0E01E-3E45-7F67-60B3-BDA7EEBF99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39C8ED9-F65E-53FC-F456-875839C90523}"/>
              </a:ext>
            </a:extLst>
          </p:cNvPr>
          <p:cNvSpPr/>
          <p:nvPr/>
        </p:nvSpPr>
        <p:spPr>
          <a:xfrm>
            <a:off x="-1260648" y="38420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Архитектура решения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FDEF3C-10DD-867B-8EF4-51A009EAB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803" y="488635"/>
            <a:ext cx="8184378" cy="51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1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918" y="269253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</a:rPr>
              <a:t>Аналоги и конкуренты</a:t>
            </a:r>
            <a:endParaRPr lang="ru-RU" sz="2400" b="1" noProof="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29664" y="3662730"/>
            <a:ext cx="8219256" cy="1770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noProof="0" dirty="0">
                <a:solidFill>
                  <a:srgbClr val="122144"/>
                </a:solidFill>
                <a:latin typeface="Manrope" pitchFamily="2" charset="0"/>
              </a:rPr>
              <a:t>Наши преимущества: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Облачная платформа не требует установки и поддержки локального сервера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Смартфон обеспечивает 2FA также, как это делают банковские приложения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Монтаж и пусконаладка не требуют опыта работы с другими СКУД</a:t>
            </a:r>
          </a:p>
          <a:p>
            <a:pPr marL="228600" indent="-228600">
              <a:lnSpc>
                <a:spcPct val="120000"/>
              </a:lnSpc>
            </a:pPr>
            <a:r>
              <a:rPr lang="ru-RU" sz="1400" noProof="0" dirty="0">
                <a:solidFill>
                  <a:srgbClr val="122144"/>
                </a:solidFill>
                <a:latin typeface="Manrope" pitchFamily="2" charset="0"/>
              </a:rPr>
              <a:t>Подходит для бизнеса любого размера</a:t>
            </a: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534593"/>
              </p:ext>
            </p:extLst>
          </p:nvPr>
        </p:nvGraphicFramePr>
        <p:xfrm>
          <a:off x="429664" y="1298766"/>
          <a:ext cx="8284672" cy="2130235"/>
        </p:xfrm>
        <a:graphic>
          <a:graphicData uri="http://schemas.openxmlformats.org/drawingml/2006/table">
            <a:tbl>
              <a:tblPr firstRow="1" bandRow="1"/>
              <a:tblGrid>
                <a:gridCol w="1334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b="0" i="0" noProof="0" dirty="0">
                        <a:latin typeface="Manrope" pitchFamily="2" charset="0"/>
                        <a:cs typeface="Gill Sans" panose="020B05020201040202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4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Наше решение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4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 err="1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Sigur</a:t>
                      </a:r>
                      <a:r>
                        <a:rPr lang="ru-RU" sz="1200" b="1" i="0" noProof="0" dirty="0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 / </a:t>
                      </a:r>
                      <a:r>
                        <a:rPr lang="ru-RU" sz="1200" b="1" i="0" noProof="0" dirty="0" err="1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Parsec</a:t>
                      </a:r>
                      <a:r>
                        <a:rPr lang="ru-RU" sz="1200" b="1" i="0" noProof="0" dirty="0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 / </a:t>
                      </a:r>
                      <a:r>
                        <a:rPr lang="ru-RU" sz="1200" b="1" i="0" noProof="0" dirty="0" err="1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PERCo</a:t>
                      </a:r>
                      <a:endParaRPr lang="ru-RU" sz="1200" b="1" i="0" noProof="0" dirty="0">
                        <a:solidFill>
                          <a:srgbClr val="FFFFFF"/>
                        </a:solidFill>
                        <a:latin typeface="Manrope" pitchFamily="2" charset="0"/>
                        <a:cs typeface="Gill Sans" panose="020B05020201040202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4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 err="1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Avanguard</a:t>
                      </a:r>
                      <a:endParaRPr lang="ru-RU" sz="1200" b="1" i="0" noProof="0" dirty="0">
                        <a:solidFill>
                          <a:srgbClr val="FFFFFF"/>
                        </a:solidFill>
                        <a:latin typeface="Manrope" pitchFamily="2" charset="0"/>
                        <a:cs typeface="Gill Sans" panose="020B05020201040202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4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 err="1">
                          <a:solidFill>
                            <a:srgbClr val="FFFFFF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SmartAirKey</a:t>
                      </a:r>
                      <a:endParaRPr lang="ru-RU" sz="1200" b="1" i="0" noProof="0" dirty="0">
                        <a:solidFill>
                          <a:srgbClr val="FFFFFF"/>
                        </a:solidFill>
                        <a:latin typeface="Manrope" pitchFamily="2" charset="0"/>
                        <a:cs typeface="Gill Sans" panose="020B05020201040202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0C1C45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Считыватель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1172ED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Смартфон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Карта + </a:t>
                      </a:r>
                      <a:r>
                        <a:rPr lang="ru-RU" sz="1200" b="0" i="0" noProof="0" dirty="0" err="1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счит</a:t>
                      </a: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Карта + </a:t>
                      </a:r>
                      <a:r>
                        <a:rPr lang="ru-RU" sz="1200" b="0" i="0" noProof="0" dirty="0" err="1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счит</a:t>
                      </a: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Смартфон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0C1C45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2FA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1172ED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Из коробки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0C1C45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Сервер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1172ED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Облако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Локальный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Облако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Локальный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0C1C45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Монтаж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i="0" noProof="0" dirty="0">
                          <a:solidFill>
                            <a:srgbClr val="1172ED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Слаботочник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СКУД-спец.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СКУД-спец.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0" i="0" noProof="0" dirty="0">
                          <a:solidFill>
                            <a:srgbClr val="122144"/>
                          </a:solidFill>
                          <a:latin typeface="Manrope" pitchFamily="2" charset="0"/>
                          <a:cs typeface="Gill Sans" panose="020B0502020104020203" pitchFamily="34" charset="-79"/>
                        </a:rPr>
                        <a:t>Специалист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noProof="0" dirty="0">
                <a:solidFill>
                  <a:srgbClr val="1172ED"/>
                </a:solidFill>
                <a:latin typeface="Manrope" pitchFamily="2" charset="0"/>
              </a:rPr>
              <a:t>TAM ~1,5 млрд ₽/год, 5 сегментов</a:t>
            </a:r>
          </a:p>
          <a:p>
            <a:pPr marL="0" indent="0">
              <a:buNone/>
            </a:pPr>
            <a:endParaRPr lang="ru-RU" sz="200" noProof="0" dirty="0"/>
          </a:p>
        </p:txBody>
      </p:sp>
      <p:graphicFrame>
        <p:nvGraphicFramePr>
          <p:cNvPr id="100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959875"/>
              </p:ext>
            </p:extLst>
          </p:nvPr>
        </p:nvGraphicFramePr>
        <p:xfrm>
          <a:off x="516603" y="1466496"/>
          <a:ext cx="7085691" cy="2340864"/>
        </p:xfrm>
        <a:graphic>
          <a:graphicData uri="http://schemas.openxmlformats.org/drawingml/2006/table">
            <a:tbl>
              <a:tblPr firstRow="1" bandRow="1"/>
              <a:tblGrid>
                <a:gridCol w="23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453">
                  <a:extLst>
                    <a:ext uri="{9D8B030D-6E8A-4147-A177-3AD203B41FA5}">
                      <a16:colId xmlns:a16="http://schemas.microsoft.com/office/drawing/2014/main" val="3805426890"/>
                    </a:ext>
                  </a:extLst>
                </a:gridCol>
                <a:gridCol w="1321421">
                  <a:extLst>
                    <a:ext uri="{9D8B030D-6E8A-4147-A177-3AD203B41FA5}">
                      <a16:colId xmlns:a16="http://schemas.microsoft.com/office/drawing/2014/main" val="80320099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Сегмент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TAM, </a:t>
                      </a:r>
                      <a:r>
                        <a:rPr lang="ru-RU" sz="1200" b="1" noProof="0" dirty="0">
                          <a:solidFill>
                            <a:schemeClr val="bg1"/>
                          </a:solidFill>
                          <a:latin typeface="Manrope" pitchFamily="2" charset="0"/>
                        </a:rPr>
                        <a:t>₽/год</a:t>
                      </a:r>
                      <a:endParaRPr lang="ru-RU" sz="1200" b="1" noProof="0" dirty="0">
                        <a:solidFill>
                          <a:srgbClr val="FFFFFF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SAM, </a:t>
                      </a:r>
                      <a:r>
                        <a:rPr lang="ru-RU" sz="1200" b="1" noProof="0" dirty="0">
                          <a:solidFill>
                            <a:schemeClr val="bg1"/>
                          </a:solidFill>
                          <a:latin typeface="Manrope" pitchFamily="2" charset="0"/>
                        </a:rPr>
                        <a:t>₽/год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SOM (</a:t>
                      </a:r>
                      <a:r>
                        <a:rPr lang="ru-RU" sz="1200" b="1" noProof="0" dirty="0" err="1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Seed</a:t>
                      </a: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) , </a:t>
                      </a:r>
                      <a:r>
                        <a:rPr lang="ru-RU" sz="1200" b="1" noProof="0" dirty="0">
                          <a:solidFill>
                            <a:schemeClr val="bg1"/>
                          </a:solidFill>
                          <a:latin typeface="Manrope" pitchFamily="2" charset="0"/>
                        </a:rPr>
                        <a:t>₽</a:t>
                      </a:r>
                      <a:endParaRPr lang="ru-RU" sz="1200" b="1" noProof="0" dirty="0">
                        <a:solidFill>
                          <a:srgbClr val="FFFFFF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SOM (</a:t>
                      </a:r>
                      <a:r>
                        <a:rPr lang="ru-RU" sz="1200" b="1" noProof="0" dirty="0" err="1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Scale</a:t>
                      </a:r>
                      <a:r>
                        <a:rPr lang="ru-RU" sz="1200" b="1" noProof="0" dirty="0">
                          <a:solidFill>
                            <a:srgbClr val="FFFFFF"/>
                          </a:solidFill>
                          <a:latin typeface="Manrope" pitchFamily="2" charset="0"/>
                        </a:rPr>
                        <a:t>), </a:t>
                      </a:r>
                      <a:r>
                        <a:rPr lang="ru-RU" sz="1200" b="1" noProof="0" dirty="0">
                          <a:solidFill>
                            <a:schemeClr val="bg1"/>
                          </a:solidFill>
                          <a:latin typeface="Manrope" pitchFamily="2" charset="0"/>
                        </a:rPr>
                        <a:t>₽</a:t>
                      </a:r>
                      <a:endParaRPr lang="ru-RU" sz="1200" b="1" noProof="0" dirty="0">
                        <a:solidFill>
                          <a:srgbClr val="FFFFFF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ВУЗы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264M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179M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1,85М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8,80М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Self-</a:t>
                      </a:r>
                      <a:r>
                        <a:rPr lang="ru-RU" sz="1200" b="1" noProof="0" dirty="0" err="1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service</a:t>
                      </a: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 студии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150M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31M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1,75</a:t>
                      </a: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5</a:t>
                      </a: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,</a:t>
                      </a:r>
                      <a:r>
                        <a:rPr lang="en-US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3</a:t>
                      </a: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0М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Склады индивидуального хранения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285M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114M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7,10М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Бизнес-центры </a:t>
                      </a:r>
                      <a:r>
                        <a:rPr lang="ru-RU" sz="1200" b="1" noProof="0" dirty="0" err="1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B</a:t>
                      </a: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/</a:t>
                      </a:r>
                      <a:r>
                        <a:rPr lang="ru-RU" sz="1200" b="1" noProof="0" dirty="0" err="1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B</a:t>
                      </a: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419M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136M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8</a:t>
                      </a: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,</a:t>
                      </a:r>
                      <a:r>
                        <a:rPr lang="en-US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60</a:t>
                      </a: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Отели с бесконтактным заселением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426M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57M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noProof="0" dirty="0">
                          <a:solidFill>
                            <a:srgbClr val="122144"/>
                          </a:solidFill>
                          <a:latin typeface="Manrope" pitchFamily="2" charset="0"/>
                        </a:rPr>
                        <a:t>3,45М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0" name="SeedInfo"/>
          <p:cNvSpPr txBox="1"/>
          <p:nvPr/>
        </p:nvSpPr>
        <p:spPr>
          <a:xfrm>
            <a:off x="516603" y="3975141"/>
            <a:ext cx="8229600" cy="936105"/>
          </a:xfrm>
          <a:prstGeom prst="rect">
            <a:avLst/>
          </a:prstGeom>
          <a:noFill/>
        </p:spPr>
        <p:txBody>
          <a:bodyPr wrap="square" lIns="45720" tIns="0" rIns="45720" bIns="0"/>
          <a:lstStyle/>
          <a:p>
            <a:pPr marL="0" indent="0">
              <a:buNone/>
            </a:pPr>
            <a:r>
              <a:rPr lang="ru-RU" sz="1600" b="1" dirty="0">
                <a:solidFill>
                  <a:srgbClr val="16294B"/>
                </a:solidFill>
                <a:latin typeface="Manrope" pitchFamily="2" charset="0"/>
              </a:rPr>
              <a:t>Стадия </a:t>
            </a:r>
            <a:r>
              <a:rPr lang="ru-RU" sz="1600" b="1" noProof="0" dirty="0" err="1">
                <a:solidFill>
                  <a:srgbClr val="16294B"/>
                </a:solidFill>
                <a:latin typeface="Manrope" pitchFamily="2" charset="0"/>
              </a:rPr>
              <a:t>Seed</a:t>
            </a:r>
            <a:r>
              <a:rPr lang="ru-RU" sz="1600" b="1" noProof="0" dirty="0">
                <a:solidFill>
                  <a:srgbClr val="16294B"/>
                </a:solidFill>
                <a:latin typeface="Manrope" pitchFamily="2" charset="0"/>
              </a:rPr>
              <a:t> (2 года):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6294B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ВУЗы — СКУД обязательна (ПП РФ №1421, антитеррор.). Постоянные расходы на выпуск карт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0" dirty="0">
                <a:solidFill>
                  <a:srgbClr val="16294B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Self-</a:t>
            </a:r>
            <a:r>
              <a:rPr lang="ru-RU" sz="1400" noProof="0" dirty="0" err="1">
                <a:solidFill>
                  <a:srgbClr val="16294B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service</a:t>
            </a:r>
            <a:r>
              <a:rPr lang="ru-RU" sz="1400" noProof="0" dirty="0">
                <a:solidFill>
                  <a:srgbClr val="16294B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студии — рынок ~5 100 объектов, удалённый доступ по бронированию</a:t>
            </a:r>
            <a:endParaRPr lang="ru-RU" sz="1400" noProof="0" dirty="0">
              <a:solidFill>
                <a:srgbClr val="16294B"/>
              </a:solidFill>
              <a:latin typeface="Manrope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400" noProof="0" dirty="0">
              <a:latin typeface="Manrope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i="1" noProof="0" dirty="0">
              <a:solidFill>
                <a:srgbClr val="6B7280"/>
              </a:solidFill>
              <a:latin typeface="Manrope" pitchFamily="2" charset="0"/>
            </a:endParaRPr>
          </a:p>
        </p:txBody>
      </p:sp>
      <p:sp>
        <p:nvSpPr>
          <p:cNvPr id="3" name="SeedInfo">
            <a:extLst>
              <a:ext uri="{FF2B5EF4-FFF2-40B4-BE49-F238E27FC236}">
                <a16:creationId xmlns:a16="http://schemas.microsoft.com/office/drawing/2014/main" id="{F941207C-6E95-2656-0BDC-E0FE9402F7DF}"/>
              </a:ext>
            </a:extLst>
          </p:cNvPr>
          <p:cNvSpPr txBox="1"/>
          <p:nvPr/>
        </p:nvSpPr>
        <p:spPr>
          <a:xfrm>
            <a:off x="491376" y="4799813"/>
            <a:ext cx="8229600" cy="936105"/>
          </a:xfrm>
          <a:prstGeom prst="rect">
            <a:avLst/>
          </a:prstGeom>
          <a:noFill/>
        </p:spPr>
        <p:txBody>
          <a:bodyPr wrap="square" lIns="45720" tIns="0" rIns="45720" bIns="0"/>
          <a:lstStyle/>
          <a:p>
            <a:pPr marL="0" indent="0">
              <a:buNone/>
            </a:pPr>
            <a:r>
              <a:rPr lang="ru-RU" sz="1600" b="1" noProof="0" dirty="0">
                <a:solidFill>
                  <a:srgbClr val="16294B"/>
                </a:solidFill>
                <a:latin typeface="Manrope" pitchFamily="2" charset="0"/>
              </a:rPr>
              <a:t>Барьеры входа: </a:t>
            </a:r>
            <a:r>
              <a:rPr lang="ru-RU" sz="1400" noProof="0" dirty="0">
                <a:solidFill>
                  <a:srgbClr val="16294B"/>
                </a:solidFill>
                <a:latin typeface="Manrope" pitchFamily="2" charset="0"/>
              </a:rPr>
              <a:t>Длинный цикл продажи на крупные объекты</a:t>
            </a:r>
            <a:r>
              <a:rPr lang="en-US" sz="1400" noProof="0" dirty="0">
                <a:solidFill>
                  <a:srgbClr val="16294B"/>
                </a:solidFill>
                <a:latin typeface="Manrope" pitchFamily="2" charset="0"/>
              </a:rPr>
              <a:t>; </a:t>
            </a:r>
            <a:r>
              <a:rPr lang="ru-RU" sz="1400" dirty="0">
                <a:solidFill>
                  <a:srgbClr val="16294B"/>
                </a:solidFill>
                <a:latin typeface="Manrope" pitchFamily="2" charset="0"/>
              </a:rPr>
              <a:t>н</a:t>
            </a:r>
            <a:r>
              <a:rPr lang="ru-RU" sz="1400" noProof="0" dirty="0" err="1">
                <a:solidFill>
                  <a:srgbClr val="16294B"/>
                </a:solidFill>
                <a:latin typeface="Manrope" pitchFamily="2" charset="0"/>
              </a:rPr>
              <a:t>еобходимость</a:t>
            </a:r>
            <a:r>
              <a:rPr lang="ru-RU" sz="1400" noProof="0" dirty="0">
                <a:solidFill>
                  <a:srgbClr val="16294B"/>
                </a:solidFill>
                <a:latin typeface="Manrope" pitchFamily="2" charset="0"/>
              </a:rPr>
              <a:t> портфолио внедрений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i="1" noProof="0" dirty="0">
              <a:solidFill>
                <a:srgbClr val="6B7280"/>
              </a:solidFill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2F9A-ACD3-C361-F747-E51DFDAD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B1080-8AB7-E3ED-E69C-A328713F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noProof="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noProof="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EC85B9F-8F3E-8E71-48E5-79AB40FCE620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033494E-5592-CFC4-8573-6FC63884FBDC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2736CB1-5779-6898-8DA2-A9D7C40D5CBC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EF81E94-C4B6-1D01-3937-5D4E18B80CC6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F541F97-FE6E-3116-BE41-B9D6E49F6D58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ED77ECF-F760-0D78-EC0A-F67DCCEEBB97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>
            <a:extLst>
              <a:ext uri="{FF2B5EF4-FFF2-40B4-BE49-F238E27FC236}">
                <a16:creationId xmlns:a16="http://schemas.microsoft.com/office/drawing/2014/main" id="{588624C2-7EA2-0777-BF5D-79C947F90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9882F7A-0794-11CD-7170-3CAC711D00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>
            <a:extLst>
              <a:ext uri="{FF2B5EF4-FFF2-40B4-BE49-F238E27FC236}">
                <a16:creationId xmlns:a16="http://schemas.microsoft.com/office/drawing/2014/main" id="{E8B52B72-F6B4-33B7-C14C-5EFE4C5D692E}"/>
              </a:ext>
            </a:extLst>
          </p:cNvPr>
          <p:cNvSpPr txBox="1">
            <a:spLocks/>
          </p:cNvSpPr>
          <p:nvPr/>
        </p:nvSpPr>
        <p:spPr>
          <a:xfrm>
            <a:off x="475328" y="925766"/>
            <a:ext cx="8219256" cy="4454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noProof="0" dirty="0">
                <a:solidFill>
                  <a:srgbClr val="1F2937"/>
                </a:solidFill>
                <a:latin typeface="Manrope" pitchFamily="2" charset="0"/>
              </a:rPr>
              <a:t>Ключевая задача: </a:t>
            </a:r>
            <a:r>
              <a:rPr lang="ru-RU" sz="1400" noProof="0" dirty="0">
                <a:latin typeface="Manrope" pitchFamily="2" charset="0"/>
              </a:rPr>
              <a:t>Беспроводная топология (контроллер + концентратор). </a:t>
            </a:r>
            <a:r>
              <a:rPr lang="ru-RU" sz="1400" dirty="0">
                <a:latin typeface="Manrope" pitchFamily="2" charset="0"/>
              </a:rPr>
              <a:t>Развитие платформы: </a:t>
            </a:r>
            <a:r>
              <a:rPr lang="ru-RU" sz="1400" dirty="0" err="1">
                <a:latin typeface="Manrope" pitchFamily="2" charset="0"/>
              </a:rPr>
              <a:t>мультитенантность</a:t>
            </a:r>
            <a:r>
              <a:rPr lang="ru-RU" sz="1400" dirty="0">
                <a:latin typeface="Manrope" pitchFamily="2" charset="0"/>
              </a:rPr>
              <a:t>, автономный режим, гостевые пропуска</a:t>
            </a:r>
          </a:p>
          <a:p>
            <a:pPr marL="0" indent="0">
              <a:buNone/>
            </a:pPr>
            <a:endParaRPr lang="en-US" sz="1600" b="1" noProof="0" dirty="0"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noProof="0" dirty="0">
                <a:latin typeface="Manrope" pitchFamily="2" charset="0"/>
              </a:rPr>
              <a:t>Есть сейчас</a:t>
            </a:r>
            <a:r>
              <a:rPr lang="en-US" sz="1600" b="1" noProof="0" dirty="0">
                <a:latin typeface="Manrope" pitchFamily="2" charset="0"/>
              </a:rPr>
              <a:t>:</a:t>
            </a:r>
            <a:r>
              <a:rPr lang="ru-RU" sz="1600" b="1" noProof="0" dirty="0">
                <a:latin typeface="Manrope" pitchFamily="2" charset="0"/>
              </a:rPr>
              <a:t> </a:t>
            </a:r>
            <a:r>
              <a:rPr lang="ru-RU" sz="1400" noProof="0" dirty="0">
                <a:latin typeface="Manrope" pitchFamily="2" charset="0"/>
              </a:rPr>
              <a:t>Базовая версия продукта</a:t>
            </a:r>
            <a:r>
              <a:rPr lang="en-US" sz="1400" dirty="0">
                <a:latin typeface="Manrope" pitchFamily="2" charset="0"/>
              </a:rPr>
              <a:t>;</a:t>
            </a:r>
            <a:r>
              <a:rPr lang="ru-RU" sz="1400" dirty="0">
                <a:latin typeface="Manrope" pitchFamily="2" charset="0"/>
              </a:rPr>
              <a:t> Команда из двух разработчиков</a:t>
            </a:r>
          </a:p>
          <a:p>
            <a:pPr marL="0" indent="0">
              <a:buNone/>
            </a:pPr>
            <a:r>
              <a:rPr lang="ru-RU" sz="1600" b="1" dirty="0">
                <a:latin typeface="Manrope" pitchFamily="2" charset="0"/>
              </a:rPr>
              <a:t>Потребуется</a:t>
            </a:r>
            <a:r>
              <a:rPr lang="en-US" sz="1600" b="1" dirty="0">
                <a:latin typeface="Manrope" pitchFamily="2" charset="0"/>
              </a:rPr>
              <a:t>: </a:t>
            </a:r>
            <a:r>
              <a:rPr lang="ru-RU" sz="1400" dirty="0">
                <a:latin typeface="Manrope" pitchFamily="2" charset="0"/>
              </a:rPr>
              <a:t>произвести ~40 устройств</a:t>
            </a:r>
            <a:r>
              <a:rPr lang="en-US" sz="1400" dirty="0">
                <a:latin typeface="Manrope" pitchFamily="2" charset="0"/>
              </a:rPr>
              <a:t>;</a:t>
            </a:r>
            <a:r>
              <a:rPr lang="ru-RU" sz="1400" dirty="0">
                <a:latin typeface="Manrope" pitchFamily="2" charset="0"/>
              </a:rPr>
              <a:t> развернуть облачную инфраструктуру</a:t>
            </a:r>
            <a:r>
              <a:rPr lang="en-US" sz="1400" dirty="0">
                <a:latin typeface="Manrope" pitchFamily="2" charset="0"/>
              </a:rPr>
              <a:t>;</a:t>
            </a:r>
            <a:r>
              <a:rPr lang="ru-RU" sz="1400" dirty="0">
                <a:latin typeface="Manrope" pitchFamily="2" charset="0"/>
              </a:rPr>
              <a:t> привлечь схемотехника и бухгалтера; после первых продаж — менеджера</a:t>
            </a:r>
            <a:endParaRPr lang="en-US" sz="1400" dirty="0">
              <a:latin typeface="Manrope" pitchFamily="2" charset="0"/>
            </a:endParaRPr>
          </a:p>
          <a:p>
            <a:pPr marL="0" indent="0">
              <a:buNone/>
            </a:pPr>
            <a:endParaRPr lang="ru-RU" sz="1400" dirty="0">
              <a:latin typeface="Manrope" pitchFamily="2" charset="0"/>
            </a:endParaRPr>
          </a:p>
          <a:p>
            <a:pPr marL="0" indent="0">
              <a:buNone/>
            </a:pPr>
            <a:r>
              <a:rPr lang="ru-RU" sz="1600" b="1" dirty="0">
                <a:latin typeface="Manrope" pitchFamily="2" charset="0"/>
              </a:rPr>
              <a:t>Затраты:</a:t>
            </a:r>
            <a:r>
              <a:rPr lang="ru-RU" sz="1600" dirty="0">
                <a:latin typeface="Manrope" pitchFamily="2" charset="0"/>
              </a:rPr>
              <a:t> </a:t>
            </a:r>
            <a:endParaRPr lang="en-US" sz="1600" dirty="0">
              <a:latin typeface="Manrope" pitchFamily="2" charset="0"/>
            </a:endParaRPr>
          </a:p>
          <a:p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Заработная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плата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(2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разработчика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latin typeface="Manrope" pitchFamily="2" charset="0"/>
              </a:rPr>
              <a:t>— 600 000 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₽</a:t>
            </a:r>
            <a:endParaRPr lang="ru-RU" sz="1400" dirty="0">
              <a:solidFill>
                <a:srgbClr val="1F2937"/>
              </a:solidFill>
              <a:latin typeface="Manrope" pitchFamily="2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Материалы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(~40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устройств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платы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стенд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latin typeface="Manrope" pitchFamily="2" charset="0"/>
              </a:rPr>
              <a:t>— </a:t>
            </a:r>
            <a:r>
              <a:rPr lang="en-US" sz="1400" dirty="0">
                <a:latin typeface="Manrope" pitchFamily="2" charset="0"/>
              </a:rPr>
              <a:t>185</a:t>
            </a:r>
            <a:r>
              <a:rPr lang="ru-RU" sz="1400" dirty="0">
                <a:latin typeface="Manrope" pitchFamily="2" charset="0"/>
              </a:rPr>
              <a:t> 000 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400" dirty="0">
              <a:latin typeface="Manrope" pitchFamily="2" charset="0"/>
              <a:ea typeface="Calibri" charset="0"/>
              <a:cs typeface="Calibri" charset="0"/>
            </a:endParaRPr>
          </a:p>
          <a:p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Специалисты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ГПХ (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схемотехник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бухгалтер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1400" dirty="0">
                <a:latin typeface="Manrope" pitchFamily="2" charset="0"/>
              </a:rPr>
              <a:t> — </a:t>
            </a:r>
            <a:r>
              <a:rPr lang="en-US" sz="1400" dirty="0">
                <a:latin typeface="Manrope" pitchFamily="2" charset="0"/>
              </a:rPr>
              <a:t>90</a:t>
            </a:r>
            <a:r>
              <a:rPr lang="ru-RU" sz="1400" dirty="0">
                <a:latin typeface="Manrope" pitchFamily="2" charset="0"/>
              </a:rPr>
              <a:t> 000 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400" dirty="0">
              <a:latin typeface="Manrope" pitchFamily="2" charset="0"/>
              <a:ea typeface="Calibri" charset="0"/>
              <a:cs typeface="Calibri" charset="0"/>
            </a:endParaRPr>
          </a:p>
          <a:p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Облако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Timeweb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, Yandex Cloud)</a:t>
            </a:r>
            <a:r>
              <a:rPr lang="ru-RU" sz="1400" dirty="0">
                <a:latin typeface="Manrope" pitchFamily="2" charset="0"/>
              </a:rPr>
              <a:t> — </a:t>
            </a:r>
            <a:r>
              <a:rPr lang="en-US" sz="1400" dirty="0">
                <a:latin typeface="Manrope" pitchFamily="2" charset="0"/>
              </a:rPr>
              <a:t>50</a:t>
            </a:r>
            <a:r>
              <a:rPr lang="ru-RU" sz="1400" dirty="0">
                <a:latin typeface="Manrope" pitchFamily="2" charset="0"/>
              </a:rPr>
              <a:t> 000 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400" dirty="0">
              <a:latin typeface="Manrope" pitchFamily="2" charset="0"/>
              <a:ea typeface="Calibri" charset="0"/>
              <a:cs typeface="Calibri" charset="0"/>
            </a:endParaRPr>
          </a:p>
          <a:p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Прочие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Роспатент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накладные</a:t>
            </a:r>
            <a:r>
              <a:rPr lang="ru-RU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 расходы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1400" dirty="0">
                <a:latin typeface="Manrope" pitchFamily="2" charset="0"/>
              </a:rPr>
              <a:t> — </a:t>
            </a:r>
            <a:r>
              <a:rPr lang="en-US" sz="1400" dirty="0">
                <a:latin typeface="Manrope" pitchFamily="2" charset="0"/>
              </a:rPr>
              <a:t>75</a:t>
            </a:r>
            <a:r>
              <a:rPr lang="ru-RU" sz="1400" dirty="0">
                <a:latin typeface="Manrope" pitchFamily="2" charset="0"/>
              </a:rPr>
              <a:t> 000 </a:t>
            </a:r>
            <a:r>
              <a:rPr lang="en-US" sz="1400" dirty="0">
                <a:solidFill>
                  <a:srgbClr val="1F2937"/>
                </a:solidFill>
                <a:latin typeface="Manrope" pitchFamily="2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400" dirty="0">
              <a:latin typeface="Manrope" pitchFamily="2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16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ru-RU" sz="1600" b="1" dirty="0">
                <a:latin typeface="Manrope" pitchFamily="2" charset="0"/>
              </a:rPr>
              <a:t>Доход:</a:t>
            </a:r>
            <a:r>
              <a:rPr lang="ru-RU" sz="1600" dirty="0">
                <a:latin typeface="Manrope" pitchFamily="2" charset="0"/>
              </a:rPr>
              <a:t> </a:t>
            </a:r>
            <a:r>
              <a:rPr lang="en" sz="1400" dirty="0" err="1">
                <a:latin typeface="Manrope" pitchFamily="2" charset="0"/>
              </a:rPr>
              <a:t>ACaaS</a:t>
            </a:r>
            <a:r>
              <a:rPr lang="en" sz="1400" dirty="0">
                <a:latin typeface="Manrope" pitchFamily="2" charset="0"/>
              </a:rPr>
              <a:t>-</a:t>
            </a:r>
            <a:r>
              <a:rPr lang="ru-RU" sz="1400" dirty="0">
                <a:latin typeface="Manrope" pitchFamily="2" charset="0"/>
              </a:rPr>
              <a:t>подписка — оборудование предоставляется в составе услуги, без </a:t>
            </a:r>
            <a:r>
              <a:rPr lang="ru-RU" sz="1400" dirty="0" err="1">
                <a:latin typeface="Manrope" pitchFamily="2" charset="0"/>
              </a:rPr>
              <a:t>капзатрат</a:t>
            </a:r>
            <a:r>
              <a:rPr lang="ru-RU" sz="1400" dirty="0">
                <a:latin typeface="Manrope" pitchFamily="2" charset="0"/>
              </a:rPr>
              <a:t> на стороне клиента. Составляющие: платформа, контроллеры, считыватели, интеграции</a:t>
            </a:r>
            <a:endParaRPr lang="ru-RU" sz="1400" b="1" dirty="0">
              <a:latin typeface="Manrope" pitchFamily="2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6F3746-DD6D-379C-614D-612FD0294E92}"/>
              </a:ext>
            </a:extLst>
          </p:cNvPr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noProof="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81029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ru-RU" sz="2000" b="1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Команда: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2 сооснователя, студенты ДонНТУ, 3+ года совместной работы</a:t>
            </a:r>
            <a:endParaRPr lang="ru-RU" sz="800" dirty="0">
              <a:latin typeface="Manrope" pitchFamily="2" charset="0"/>
            </a:endParaRPr>
          </a:p>
          <a:p>
            <a:pPr marL="5143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Клименков М.Р (заявитель): платформа, веб-кабинет, ИБ</a:t>
            </a:r>
          </a:p>
          <a:p>
            <a:pPr marL="5143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Пархоменко В.В: мобильные приложения, прошивка контроллеров</a:t>
            </a:r>
          </a:p>
          <a:p>
            <a:pPr marL="5143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Привлекаются</a:t>
            </a:r>
            <a:r>
              <a:rPr lang="en-US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 инженер-схемотехник и бухгалтер (ГПХ)</a:t>
            </a:r>
          </a:p>
          <a:p>
            <a:pPr marL="0" indent="0">
              <a:buNone/>
            </a:pPr>
            <a:endParaRPr lang="ru-RU" sz="800" dirty="0">
              <a:latin typeface="Manrope" pitchFamily="2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ru-RU" sz="2000" b="1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Опыт по теме:</a:t>
            </a:r>
          </a:p>
          <a:p>
            <a:pPr marL="5143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Полный цикл коммерческого ПО: проектирование → разработка → деплой</a:t>
            </a:r>
          </a:p>
          <a:p>
            <a:pPr marL="514350" indent="-285750">
              <a:lnSpc>
                <a:spcPct val="115000"/>
              </a:lnSpc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Профильный курс схемотехники в рамках обучения</a:t>
            </a:r>
          </a:p>
          <a:p>
            <a:pPr marL="5143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Пилотное внедрение в ДонНТУ совместно с Управлением Комплексной Безопасности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</p:spTree>
    <p:extLst>
      <p:ext uri="{BB962C8B-B14F-4D97-AF65-F5344CB8AC3E}">
        <p14:creationId xmlns:p14="http://schemas.microsoft.com/office/powerpoint/2010/main" val="310293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9AEDF9-5085-9BE9-10D3-1750632BB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2332"/>
            <a:ext cx="4297268" cy="64533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19C60-B166-5647-DDEB-98CA1B0D2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02333"/>
            <a:ext cx="4416619" cy="64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2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8104" y="1988840"/>
            <a:ext cx="3672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Arial" panose="020B0604020202020204" pitchFamily="34" charset="0"/>
              </a:rPr>
              <a:t>maksim.klimenkovv@gmail.com</a:t>
            </a:r>
            <a:endParaRPr lang="ru-RU" b="1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Arial" panose="020B0604020202020204" pitchFamily="34" charset="0"/>
              </a:rPr>
              <a:t>+7 (949) 621-14-00</a:t>
            </a:r>
            <a:endParaRPr lang="ru-RU" sz="1600" b="1" dirty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7" t="34896" r="19769" b="32552"/>
          <a:stretch/>
        </p:blipFill>
        <p:spPr bwMode="auto">
          <a:xfrm>
            <a:off x="10692680" y="1556322"/>
            <a:ext cx="1965708" cy="2310257"/>
          </a:xfrm>
          <a:prstGeom prst="rect">
            <a:avLst/>
          </a:prstGeom>
          <a:solidFill>
            <a:srgbClr val="ADDAE3"/>
          </a:solidFill>
          <a:ln>
            <a:noFill/>
          </a:ln>
        </p:spPr>
      </p:pic>
      <p:sp>
        <p:nvSpPr>
          <p:cNvPr id="14" name="Прямоугольник 13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22" y="4794411"/>
            <a:ext cx="1857486" cy="1724605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201622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4628" y="1895596"/>
            <a:ext cx="41248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№СтС-608136</a:t>
            </a:r>
          </a:p>
          <a:p>
            <a:r>
              <a:rPr lang="ru-RU" b="1" dirty="0">
                <a:solidFill>
                  <a:srgbClr val="000000"/>
                </a:solidFill>
                <a:latin typeface="Georgia" panose="02040502050405020303" pitchFamily="18" charset="0"/>
                <a:ea typeface="Tahoma" panose="020B0604030504040204" pitchFamily="34" charset="0"/>
                <a:cs typeface="Arial" panose="020B0604020202020204" pitchFamily="34" charset="0"/>
              </a:rPr>
              <a:t>Клименков Максим Романович</a:t>
            </a:r>
            <a:endParaRPr lang="ru-RU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5955BFD-C5FC-FD08-D3DA-C91117864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5" y="2723821"/>
            <a:ext cx="3224753" cy="3224753"/>
          </a:xfrm>
          <a:prstGeom prst="rect">
            <a:avLst/>
          </a:prstGeom>
          <a:ln w="25400"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9508</TotalTime>
  <Words>674</Words>
  <Application>Microsoft Macintosh PowerPoint</Application>
  <PresentationFormat>Экран (4:3)</PresentationFormat>
  <Paragraphs>142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Georgia</vt:lpstr>
      <vt:lpstr>Gilroy-ExtraBold</vt:lpstr>
      <vt:lpstr>Manrope</vt:lpstr>
      <vt:lpstr>Тема Office</vt:lpstr>
      <vt:lpstr>Студенческий  Стартап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  <vt:lpstr>Презентация PowerPoint</vt:lpstr>
    </vt:vector>
  </TitlesOfParts>
  <Company>FASIE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Максим Клименков</cp:lastModifiedBy>
  <cp:revision>82</cp:revision>
  <dcterms:created xsi:type="dcterms:W3CDTF">2023-02-08T09:03:57Z</dcterms:created>
  <dcterms:modified xsi:type="dcterms:W3CDTF">2026-05-28T09:42:41Z</dcterms:modified>
</cp:coreProperties>
</file>